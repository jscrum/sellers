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30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23" d="100"/>
          <a:sy n="23" d="100"/>
        </p:scale>
        <p:origin x="154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35B92B-88B0-41E2-BFE9-BEEB64EE629D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CAED0D-7721-4711-A265-356EBE86A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468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8662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1pPr>
    <a:lvl2pPr marL="1843313" algn="l" defTabSz="368662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2pPr>
    <a:lvl3pPr marL="3686627" algn="l" defTabSz="368662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3pPr>
    <a:lvl4pPr marL="5529936" algn="l" defTabSz="368662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4pPr>
    <a:lvl5pPr marL="7373250" algn="l" defTabSz="368662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5pPr>
    <a:lvl6pPr marL="9216563" algn="l" defTabSz="368662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6pPr>
    <a:lvl7pPr marL="11059873" algn="l" defTabSz="368662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7pPr>
    <a:lvl8pPr marL="12903186" algn="l" defTabSz="368662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8pPr>
    <a:lvl9pPr marL="14746500" algn="l" defTabSz="368662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dirty="0" err="1"/>
              <a:t>Powerpoint</a:t>
            </a:r>
            <a:r>
              <a:rPr lang="en-US" dirty="0"/>
              <a:t>, click View &gt; Guides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Keep text within gutter guides.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Author list: Don’t split names onto two lines (e.g., “Jimmy [break] Smith”). If that happens, use a new line, unless you need the space. </a:t>
            </a:r>
            <a:r>
              <a:rPr lang="en-US" b="1" dirty="0"/>
              <a:t>Bold the first names of anybody who’s presenting</a:t>
            </a:r>
            <a:r>
              <a:rPr lang="en-US" dirty="0"/>
              <a:t> in person.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Intro/methods/result: </a:t>
            </a:r>
            <a:r>
              <a:rPr lang="en-US" b="1" dirty="0"/>
              <a:t>Do not drop below font size 28</a:t>
            </a:r>
            <a:r>
              <a:rPr lang="en-US" dirty="0"/>
              <a:t>, but if you have extra space, jack up the font size until the space is full.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 not use color in the sidebars except in graphs/figures. It’ll pull attention from the center and slow interpretation for passersby.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6C2670-3342-473C-969D-FDFF399F20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2003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56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0240"/>
            </a:lvl1pPr>
            <a:lvl2pPr marL="1950841" indent="0" algn="ctr">
              <a:buNone/>
              <a:defRPr sz="8533"/>
            </a:lvl2pPr>
            <a:lvl3pPr marL="3901685" indent="0" algn="ctr">
              <a:buNone/>
              <a:defRPr sz="7680"/>
            </a:lvl3pPr>
            <a:lvl4pPr marL="5852526" indent="0" algn="ctr">
              <a:buNone/>
              <a:defRPr sz="6828"/>
            </a:lvl4pPr>
            <a:lvl5pPr marL="7803368" indent="0" algn="ctr">
              <a:buNone/>
              <a:defRPr sz="6828"/>
            </a:lvl5pPr>
            <a:lvl6pPr marL="9754210" indent="0" algn="ctr">
              <a:buNone/>
              <a:defRPr sz="6828"/>
            </a:lvl6pPr>
            <a:lvl7pPr marL="11705051" indent="0" algn="ctr">
              <a:buNone/>
              <a:defRPr sz="6828"/>
            </a:lvl7pPr>
            <a:lvl8pPr marL="13655893" indent="0" algn="ctr">
              <a:buNone/>
              <a:defRPr sz="6828"/>
            </a:lvl8pPr>
            <a:lvl9pPr marL="15606735" indent="0" algn="ctr">
              <a:buNone/>
              <a:defRPr sz="682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857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266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56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0240">
                <a:solidFill>
                  <a:schemeClr val="tx1"/>
                </a:solidFill>
              </a:defRPr>
            </a:lvl1pPr>
            <a:lvl2pPr marL="1950841" indent="0">
              <a:buNone/>
              <a:defRPr sz="8533">
                <a:solidFill>
                  <a:schemeClr val="tx1">
                    <a:tint val="75000"/>
                  </a:schemeClr>
                </a:solidFill>
              </a:defRPr>
            </a:lvl2pPr>
            <a:lvl3pPr marL="3901685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3pPr>
            <a:lvl4pPr marL="5852526" indent="0">
              <a:buNone/>
              <a:defRPr sz="6828">
                <a:solidFill>
                  <a:schemeClr val="tx1">
                    <a:tint val="75000"/>
                  </a:schemeClr>
                </a:solidFill>
              </a:defRPr>
            </a:lvl4pPr>
            <a:lvl5pPr marL="7803368" indent="0">
              <a:buNone/>
              <a:defRPr sz="6828">
                <a:solidFill>
                  <a:schemeClr val="tx1">
                    <a:tint val="75000"/>
                  </a:schemeClr>
                </a:solidFill>
              </a:defRPr>
            </a:lvl5pPr>
            <a:lvl6pPr marL="9754210" indent="0">
              <a:buNone/>
              <a:defRPr sz="6828">
                <a:solidFill>
                  <a:schemeClr val="tx1">
                    <a:tint val="75000"/>
                  </a:schemeClr>
                </a:solidFill>
              </a:defRPr>
            </a:lvl6pPr>
            <a:lvl7pPr marL="11705051" indent="0">
              <a:buNone/>
              <a:defRPr sz="6828">
                <a:solidFill>
                  <a:schemeClr val="tx1">
                    <a:tint val="75000"/>
                  </a:schemeClr>
                </a:solidFill>
              </a:defRPr>
            </a:lvl7pPr>
            <a:lvl8pPr marL="13655893" indent="0">
              <a:buNone/>
              <a:defRPr sz="6828">
                <a:solidFill>
                  <a:schemeClr val="tx1">
                    <a:tint val="75000"/>
                  </a:schemeClr>
                </a:solidFill>
              </a:defRPr>
            </a:lvl8pPr>
            <a:lvl9pPr marL="15606735" indent="0">
              <a:buNone/>
              <a:defRPr sz="68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905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98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6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0240" b="1"/>
            </a:lvl1pPr>
            <a:lvl2pPr marL="1950841" indent="0">
              <a:buNone/>
              <a:defRPr sz="8533" b="1"/>
            </a:lvl2pPr>
            <a:lvl3pPr marL="3901685" indent="0">
              <a:buNone/>
              <a:defRPr sz="7680" b="1"/>
            </a:lvl3pPr>
            <a:lvl4pPr marL="5852526" indent="0">
              <a:buNone/>
              <a:defRPr sz="6828" b="1"/>
            </a:lvl4pPr>
            <a:lvl5pPr marL="7803368" indent="0">
              <a:buNone/>
              <a:defRPr sz="6828" b="1"/>
            </a:lvl5pPr>
            <a:lvl6pPr marL="9754210" indent="0">
              <a:buNone/>
              <a:defRPr sz="6828" b="1"/>
            </a:lvl6pPr>
            <a:lvl7pPr marL="11705051" indent="0">
              <a:buNone/>
              <a:defRPr sz="6828" b="1"/>
            </a:lvl7pPr>
            <a:lvl8pPr marL="13655893" indent="0">
              <a:buNone/>
              <a:defRPr sz="6828" b="1"/>
            </a:lvl8pPr>
            <a:lvl9pPr marL="15606735" indent="0">
              <a:buNone/>
              <a:defRPr sz="6828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3" y="8069582"/>
            <a:ext cx="18659476" cy="3954778"/>
          </a:xfrm>
        </p:spPr>
        <p:txBody>
          <a:bodyPr anchor="b"/>
          <a:lstStyle>
            <a:lvl1pPr marL="0" indent="0">
              <a:buNone/>
              <a:defRPr sz="10240" b="1"/>
            </a:lvl1pPr>
            <a:lvl2pPr marL="1950841" indent="0">
              <a:buNone/>
              <a:defRPr sz="8533" b="1"/>
            </a:lvl2pPr>
            <a:lvl3pPr marL="3901685" indent="0">
              <a:buNone/>
              <a:defRPr sz="7680" b="1"/>
            </a:lvl3pPr>
            <a:lvl4pPr marL="5852526" indent="0">
              <a:buNone/>
              <a:defRPr sz="6828" b="1"/>
            </a:lvl4pPr>
            <a:lvl5pPr marL="7803368" indent="0">
              <a:buNone/>
              <a:defRPr sz="6828" b="1"/>
            </a:lvl5pPr>
            <a:lvl6pPr marL="9754210" indent="0">
              <a:buNone/>
              <a:defRPr sz="6828" b="1"/>
            </a:lvl6pPr>
            <a:lvl7pPr marL="11705051" indent="0">
              <a:buNone/>
              <a:defRPr sz="6828" b="1"/>
            </a:lvl7pPr>
            <a:lvl8pPr marL="13655893" indent="0">
              <a:buNone/>
              <a:defRPr sz="6828" b="1"/>
            </a:lvl8pPr>
            <a:lvl9pPr marL="15606735" indent="0">
              <a:buNone/>
              <a:defRPr sz="6828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3" y="12024360"/>
            <a:ext cx="18659476" cy="176860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29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893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76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40" y="2194560"/>
            <a:ext cx="14156054" cy="7680960"/>
          </a:xfrm>
        </p:spPr>
        <p:txBody>
          <a:bodyPr anchor="b"/>
          <a:lstStyle>
            <a:lvl1pPr>
              <a:defRPr sz="1365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6" y="4739647"/>
            <a:ext cx="22219920" cy="23393400"/>
          </a:xfrm>
        </p:spPr>
        <p:txBody>
          <a:bodyPr/>
          <a:lstStyle>
            <a:lvl1pPr>
              <a:defRPr sz="13654"/>
            </a:lvl1pPr>
            <a:lvl2pPr>
              <a:defRPr sz="11948"/>
            </a:lvl2pPr>
            <a:lvl3pPr>
              <a:defRPr sz="10240"/>
            </a:lvl3pPr>
            <a:lvl4pPr>
              <a:defRPr sz="8533"/>
            </a:lvl4pPr>
            <a:lvl5pPr>
              <a:defRPr sz="8533"/>
            </a:lvl5pPr>
            <a:lvl6pPr>
              <a:defRPr sz="8533"/>
            </a:lvl6pPr>
            <a:lvl7pPr>
              <a:defRPr sz="8533"/>
            </a:lvl7pPr>
            <a:lvl8pPr>
              <a:defRPr sz="8533"/>
            </a:lvl8pPr>
            <a:lvl9pPr>
              <a:defRPr sz="85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40" y="9875520"/>
            <a:ext cx="14156054" cy="18295622"/>
          </a:xfrm>
        </p:spPr>
        <p:txBody>
          <a:bodyPr/>
          <a:lstStyle>
            <a:lvl1pPr marL="0" indent="0">
              <a:buNone/>
              <a:defRPr sz="6828"/>
            </a:lvl1pPr>
            <a:lvl2pPr marL="1950841" indent="0">
              <a:buNone/>
              <a:defRPr sz="5973"/>
            </a:lvl2pPr>
            <a:lvl3pPr marL="3901685" indent="0">
              <a:buNone/>
              <a:defRPr sz="5120"/>
            </a:lvl3pPr>
            <a:lvl4pPr marL="5852526" indent="0">
              <a:buNone/>
              <a:defRPr sz="4268"/>
            </a:lvl4pPr>
            <a:lvl5pPr marL="7803368" indent="0">
              <a:buNone/>
              <a:defRPr sz="4268"/>
            </a:lvl5pPr>
            <a:lvl6pPr marL="9754210" indent="0">
              <a:buNone/>
              <a:defRPr sz="4268"/>
            </a:lvl6pPr>
            <a:lvl7pPr marL="11705051" indent="0">
              <a:buNone/>
              <a:defRPr sz="4268"/>
            </a:lvl7pPr>
            <a:lvl8pPr marL="13655893" indent="0">
              <a:buNone/>
              <a:defRPr sz="4268"/>
            </a:lvl8pPr>
            <a:lvl9pPr marL="15606735" indent="0">
              <a:buNone/>
              <a:defRPr sz="4268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32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40" y="2194560"/>
            <a:ext cx="14156054" cy="7680960"/>
          </a:xfrm>
        </p:spPr>
        <p:txBody>
          <a:bodyPr anchor="b"/>
          <a:lstStyle>
            <a:lvl1pPr>
              <a:defRPr sz="1365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6" y="4739647"/>
            <a:ext cx="22219920" cy="23393400"/>
          </a:xfrm>
        </p:spPr>
        <p:txBody>
          <a:bodyPr anchor="t"/>
          <a:lstStyle>
            <a:lvl1pPr marL="0" indent="0">
              <a:buNone/>
              <a:defRPr sz="13654"/>
            </a:lvl1pPr>
            <a:lvl2pPr marL="1950841" indent="0">
              <a:buNone/>
              <a:defRPr sz="11948"/>
            </a:lvl2pPr>
            <a:lvl3pPr marL="3901685" indent="0">
              <a:buNone/>
              <a:defRPr sz="10240"/>
            </a:lvl3pPr>
            <a:lvl4pPr marL="5852526" indent="0">
              <a:buNone/>
              <a:defRPr sz="8533"/>
            </a:lvl4pPr>
            <a:lvl5pPr marL="7803368" indent="0">
              <a:buNone/>
              <a:defRPr sz="8533"/>
            </a:lvl5pPr>
            <a:lvl6pPr marL="9754210" indent="0">
              <a:buNone/>
              <a:defRPr sz="8533"/>
            </a:lvl6pPr>
            <a:lvl7pPr marL="11705051" indent="0">
              <a:buNone/>
              <a:defRPr sz="8533"/>
            </a:lvl7pPr>
            <a:lvl8pPr marL="13655893" indent="0">
              <a:buNone/>
              <a:defRPr sz="8533"/>
            </a:lvl8pPr>
            <a:lvl9pPr marL="15606735" indent="0">
              <a:buNone/>
              <a:defRPr sz="85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40" y="9875520"/>
            <a:ext cx="14156054" cy="18295622"/>
          </a:xfrm>
        </p:spPr>
        <p:txBody>
          <a:bodyPr/>
          <a:lstStyle>
            <a:lvl1pPr marL="0" indent="0">
              <a:buNone/>
              <a:defRPr sz="6828"/>
            </a:lvl1pPr>
            <a:lvl2pPr marL="1950841" indent="0">
              <a:buNone/>
              <a:defRPr sz="5973"/>
            </a:lvl2pPr>
            <a:lvl3pPr marL="3901685" indent="0">
              <a:buNone/>
              <a:defRPr sz="5120"/>
            </a:lvl3pPr>
            <a:lvl4pPr marL="5852526" indent="0">
              <a:buNone/>
              <a:defRPr sz="4268"/>
            </a:lvl4pPr>
            <a:lvl5pPr marL="7803368" indent="0">
              <a:buNone/>
              <a:defRPr sz="4268"/>
            </a:lvl5pPr>
            <a:lvl6pPr marL="9754210" indent="0">
              <a:buNone/>
              <a:defRPr sz="4268"/>
            </a:lvl6pPr>
            <a:lvl7pPr marL="11705051" indent="0">
              <a:buNone/>
              <a:defRPr sz="4268"/>
            </a:lvl7pPr>
            <a:lvl8pPr marL="13655893" indent="0">
              <a:buNone/>
              <a:defRPr sz="4268"/>
            </a:lvl8pPr>
            <a:lvl9pPr marL="15606735" indent="0">
              <a:buNone/>
              <a:defRPr sz="4268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420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38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3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3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008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35061-2F74-46D4-9F8F-C77EF304855D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12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901685" rtl="0" eaLnBrk="1" latinLnBrk="0" hangingPunct="1">
        <a:lnSpc>
          <a:spcPct val="90000"/>
        </a:lnSpc>
        <a:spcBef>
          <a:spcPct val="0"/>
        </a:spcBef>
        <a:buNone/>
        <a:defRPr sz="1877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75422" indent="-975422" algn="l" defTabSz="3901685" rtl="0" eaLnBrk="1" latinLnBrk="0" hangingPunct="1">
        <a:lnSpc>
          <a:spcPct val="90000"/>
        </a:lnSpc>
        <a:spcBef>
          <a:spcPts val="4268"/>
        </a:spcBef>
        <a:buFont typeface="Arial" panose="020B0604020202020204" pitchFamily="34" charset="0"/>
        <a:buChar char="•"/>
        <a:defRPr sz="11948" kern="1200">
          <a:solidFill>
            <a:schemeClr val="tx1"/>
          </a:solidFill>
          <a:latin typeface="+mn-lt"/>
          <a:ea typeface="+mn-ea"/>
          <a:cs typeface="+mn-cs"/>
        </a:defRPr>
      </a:lvl1pPr>
      <a:lvl2pPr marL="2926264" indent="-975422" algn="l" defTabSz="3901685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10240" kern="1200">
          <a:solidFill>
            <a:schemeClr val="tx1"/>
          </a:solidFill>
          <a:latin typeface="+mn-lt"/>
          <a:ea typeface="+mn-ea"/>
          <a:cs typeface="+mn-cs"/>
        </a:defRPr>
      </a:lvl2pPr>
      <a:lvl3pPr marL="4877105" indent="-975422" algn="l" defTabSz="3901685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8533" kern="1200">
          <a:solidFill>
            <a:schemeClr val="tx1"/>
          </a:solidFill>
          <a:latin typeface="+mn-lt"/>
          <a:ea typeface="+mn-ea"/>
          <a:cs typeface="+mn-cs"/>
        </a:defRPr>
      </a:lvl3pPr>
      <a:lvl4pPr marL="6827947" indent="-975422" algn="l" defTabSz="3901685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4pPr>
      <a:lvl5pPr marL="8778790" indent="-975422" algn="l" defTabSz="3901685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5pPr>
      <a:lvl6pPr marL="10729631" indent="-975422" algn="l" defTabSz="3901685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6pPr>
      <a:lvl7pPr marL="12680472" indent="-975422" algn="l" defTabSz="3901685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7pPr>
      <a:lvl8pPr marL="14631314" indent="-975422" algn="l" defTabSz="3901685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8pPr>
      <a:lvl9pPr marL="16582156" indent="-975422" algn="l" defTabSz="3901685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901685" rtl="0" eaLnBrk="1" latinLnBrk="0" hangingPunct="1">
        <a:defRPr sz="7680" kern="1200">
          <a:solidFill>
            <a:schemeClr val="tx1"/>
          </a:solidFill>
          <a:latin typeface="+mn-lt"/>
          <a:ea typeface="+mn-ea"/>
          <a:cs typeface="+mn-cs"/>
        </a:defRPr>
      </a:lvl1pPr>
      <a:lvl2pPr marL="1950841" algn="l" defTabSz="3901685" rtl="0" eaLnBrk="1" latinLnBrk="0" hangingPunct="1"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901685" algn="l" defTabSz="3901685" rtl="0" eaLnBrk="1" latinLnBrk="0" hangingPunct="1">
        <a:defRPr sz="7680" kern="1200">
          <a:solidFill>
            <a:schemeClr val="tx1"/>
          </a:solidFill>
          <a:latin typeface="+mn-lt"/>
          <a:ea typeface="+mn-ea"/>
          <a:cs typeface="+mn-cs"/>
        </a:defRPr>
      </a:lvl3pPr>
      <a:lvl4pPr marL="5852526" algn="l" defTabSz="3901685" rtl="0" eaLnBrk="1" latinLnBrk="0" hangingPunct="1">
        <a:defRPr sz="7680" kern="1200">
          <a:solidFill>
            <a:schemeClr val="tx1"/>
          </a:solidFill>
          <a:latin typeface="+mn-lt"/>
          <a:ea typeface="+mn-ea"/>
          <a:cs typeface="+mn-cs"/>
        </a:defRPr>
      </a:lvl4pPr>
      <a:lvl5pPr marL="7803368" algn="l" defTabSz="3901685" rtl="0" eaLnBrk="1" latinLnBrk="0" hangingPunct="1">
        <a:defRPr sz="7680" kern="1200">
          <a:solidFill>
            <a:schemeClr val="tx1"/>
          </a:solidFill>
          <a:latin typeface="+mn-lt"/>
          <a:ea typeface="+mn-ea"/>
          <a:cs typeface="+mn-cs"/>
        </a:defRPr>
      </a:lvl5pPr>
      <a:lvl6pPr marL="9754210" algn="l" defTabSz="3901685" rtl="0" eaLnBrk="1" latinLnBrk="0" hangingPunct="1">
        <a:defRPr sz="7680" kern="1200">
          <a:solidFill>
            <a:schemeClr val="tx1"/>
          </a:solidFill>
          <a:latin typeface="+mn-lt"/>
          <a:ea typeface="+mn-ea"/>
          <a:cs typeface="+mn-cs"/>
        </a:defRPr>
      </a:lvl6pPr>
      <a:lvl7pPr marL="11705051" algn="l" defTabSz="3901685" rtl="0" eaLnBrk="1" latinLnBrk="0" hangingPunct="1">
        <a:defRPr sz="7680" kern="1200">
          <a:solidFill>
            <a:schemeClr val="tx1"/>
          </a:solidFill>
          <a:latin typeface="+mn-lt"/>
          <a:ea typeface="+mn-ea"/>
          <a:cs typeface="+mn-cs"/>
        </a:defRPr>
      </a:lvl7pPr>
      <a:lvl8pPr marL="13655893" algn="l" defTabSz="3901685" rtl="0" eaLnBrk="1" latinLnBrk="0" hangingPunct="1">
        <a:defRPr sz="7680" kern="1200">
          <a:solidFill>
            <a:schemeClr val="tx1"/>
          </a:solidFill>
          <a:latin typeface="+mn-lt"/>
          <a:ea typeface="+mn-ea"/>
          <a:cs typeface="+mn-cs"/>
        </a:defRPr>
      </a:lvl8pPr>
      <a:lvl9pPr marL="15606735" algn="l" defTabSz="3901685" rtl="0" eaLnBrk="1" latinLnBrk="0" hangingPunct="1">
        <a:defRPr sz="76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78733BE-059C-47B7-9415-5ADF2F3024F1}"/>
              </a:ext>
            </a:extLst>
          </p:cNvPr>
          <p:cNvSpPr/>
          <p:nvPr/>
        </p:nvSpPr>
        <p:spPr>
          <a:xfrm>
            <a:off x="35088836" y="0"/>
            <a:ext cx="8875621" cy="32918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defTabSz="406420">
              <a:buFont typeface="+mj-lt"/>
              <a:buAutoNum type="arabicPeriod"/>
            </a:pPr>
            <a:r>
              <a:rPr lang="en-US" sz="1600" b="1" i="1" dirty="0">
                <a:solidFill>
                  <a:prstClr val="white"/>
                </a:solidFill>
                <a:latin typeface="Lato" panose="020F0502020204030203" pitchFamily="34" charset="0"/>
                <a:cs typeface="Lato" panose="020F0502020204030203" pitchFamily="34" charset="0"/>
              </a:rPr>
              <a:t>Non-Cognitive Predictors of Student Success:</a:t>
            </a:r>
            <a:br>
              <a:rPr lang="en-US" sz="1600" i="1" dirty="0">
                <a:solidFill>
                  <a:prstClr val="white"/>
                </a:solidFill>
                <a:latin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i="1" dirty="0">
                <a:solidFill>
                  <a:prstClr val="white"/>
                </a:solidFill>
                <a:latin typeface="Lato" panose="020F0502020204030203" pitchFamily="34" charset="0"/>
                <a:cs typeface="Lato" panose="020F0502020204030203" pitchFamily="34" charset="0"/>
              </a:rPr>
              <a:t>A Predictive Validity Comparison Between Domestic and International Students</a:t>
            </a:r>
          </a:p>
        </p:txBody>
      </p:sp>
      <p:sp>
        <p:nvSpPr>
          <p:cNvPr id="12" name="silent presenter">
            <a:extLst>
              <a:ext uri="{FF2B5EF4-FFF2-40B4-BE49-F238E27FC236}">
                <a16:creationId xmlns:a16="http://schemas.microsoft.com/office/drawing/2014/main" id="{EC86DA8B-8163-4552-8FA4-435C18CFF2A9}"/>
              </a:ext>
            </a:extLst>
          </p:cNvPr>
          <p:cNvSpPr/>
          <p:nvPr/>
        </p:nvSpPr>
        <p:spPr>
          <a:xfrm>
            <a:off x="-1" y="0"/>
            <a:ext cx="10285789" cy="32918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06420"/>
            <a:endParaRPr lang="en-US" sz="16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DC4359A-7BBB-495A-96DE-65574C0C8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7574" y="3690474"/>
            <a:ext cx="9857699" cy="9570821"/>
          </a:xfrm>
        </p:spPr>
        <p:txBody>
          <a:bodyPr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11111" dirty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  <a:cs typeface="Segoe UI" panose="020B0502040204020203" pitchFamily="34" charset="0"/>
              </a:rPr>
              <a:t>Creation of the app and some of the default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35B311-3C19-412C-ADE6-EB2E4158F366}"/>
              </a:ext>
            </a:extLst>
          </p:cNvPr>
          <p:cNvSpPr txBox="1"/>
          <p:nvPr/>
        </p:nvSpPr>
        <p:spPr>
          <a:xfrm>
            <a:off x="898230" y="7096963"/>
            <a:ext cx="8501325" cy="26623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06420">
              <a:lnSpc>
                <a:spcPct val="120000"/>
              </a:lnSpc>
            </a:pPr>
            <a:r>
              <a:rPr lang="en-US" sz="3200" b="1" dirty="0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ABSTRACT: </a:t>
            </a:r>
            <a:r>
              <a:rPr lang="en-US" sz="3200" dirty="0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This project documents the construction of a cross-platform mobile app for accessing and visualizing data from the </a:t>
            </a:r>
            <a:r>
              <a:rPr lang="en-US" sz="3200" dirty="0" err="1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mybiketraffic.com</a:t>
            </a:r>
            <a:r>
              <a:rPr lang="en-US" sz="3200" dirty="0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 website. MAYBE ADD ANOTHER SENTENCE?</a:t>
            </a:r>
          </a:p>
          <a:p>
            <a:pPr defTabSz="406420">
              <a:lnSpc>
                <a:spcPct val="120000"/>
              </a:lnSpc>
            </a:pPr>
            <a:endParaRPr lang="en-US" sz="3200" b="1" dirty="0">
              <a:solidFill>
                <a:prstClr val="black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  <a:p>
            <a:pPr defTabSz="406420">
              <a:lnSpc>
                <a:spcPct val="120000"/>
              </a:lnSpc>
            </a:pPr>
            <a:r>
              <a:rPr lang="en-US" sz="3200" b="1" dirty="0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BACKGROUND: </a:t>
            </a:r>
            <a:r>
              <a:rPr lang="en-US" sz="3200" dirty="0" err="1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mybiketraffic.com</a:t>
            </a:r>
            <a:r>
              <a:rPr lang="en-US" sz="3200" dirty="0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 is a research project that documents a variety of vehicles statistics collected from a bicycle equipped with a variety of sensors: radar, LiDAR, forward facing video, and rear-facing video. The data is currently only available on the host website, and is NOT particularly mobile friendly.</a:t>
            </a:r>
          </a:p>
          <a:p>
            <a:pPr defTabSz="406420">
              <a:lnSpc>
                <a:spcPct val="120000"/>
              </a:lnSpc>
            </a:pPr>
            <a:endParaRPr lang="en-US" sz="3200" b="1" dirty="0">
              <a:solidFill>
                <a:prstClr val="black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  <a:p>
            <a:pPr defTabSz="406420">
              <a:lnSpc>
                <a:spcPct val="120000"/>
              </a:lnSpc>
            </a:pPr>
            <a:r>
              <a:rPr lang="en-US" sz="3200" dirty="0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ADD PARAGRAPH HERE TALKING ABOUT REACT NATIVE AS A CROSS-PLATFORM DEVELOPMENT FRAMEWORK</a:t>
            </a:r>
          </a:p>
          <a:p>
            <a:pPr defTabSz="406420">
              <a:lnSpc>
                <a:spcPct val="120000"/>
              </a:lnSpc>
            </a:pPr>
            <a:endParaRPr lang="en-US" sz="3200" b="1" dirty="0">
              <a:solidFill>
                <a:srgbClr val="8C1616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  <a:p>
            <a:pPr defTabSz="406420">
              <a:lnSpc>
                <a:spcPct val="120000"/>
              </a:lnSpc>
            </a:pPr>
            <a:r>
              <a:rPr lang="en-US" sz="3200" b="1" dirty="0">
                <a:latin typeface="Lato" panose="020F0502020204030203" pitchFamily="34" charset="0"/>
                <a:cs typeface="Segoe UI" panose="020B0502040204020203" pitchFamily="34" charset="0"/>
              </a:rPr>
              <a:t>IMPLEMENTATION:</a:t>
            </a:r>
          </a:p>
          <a:p>
            <a:pPr defTabSz="406420">
              <a:lnSpc>
                <a:spcPct val="120000"/>
              </a:lnSpc>
            </a:pPr>
            <a:endParaRPr lang="en-US" sz="3200" b="1" dirty="0">
              <a:solidFill>
                <a:srgbClr val="8C1616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  <a:p>
            <a:pPr marL="660441" indent="-660441" defTabSz="406420">
              <a:lnSpc>
                <a:spcPct val="120000"/>
              </a:lnSpc>
              <a:buFont typeface="+mj-lt"/>
              <a:buAutoNum type="arabicPeriod"/>
            </a:pPr>
            <a:r>
              <a:rPr lang="en-US" sz="3200" dirty="0" err="1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Webview</a:t>
            </a:r>
            <a:r>
              <a:rPr lang="en-US" sz="3200" dirty="0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 approach [implemented]</a:t>
            </a:r>
          </a:p>
          <a:p>
            <a:pPr marL="660441" indent="-660441" defTabSz="406420">
              <a:lnSpc>
                <a:spcPct val="120000"/>
              </a:lnSpc>
              <a:buFont typeface="+mj-lt"/>
              <a:buAutoNum type="arabicPeriod"/>
            </a:pPr>
            <a:r>
              <a:rPr lang="en-US" sz="3200" dirty="0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Push notifications [in progress]</a:t>
            </a:r>
          </a:p>
          <a:p>
            <a:pPr marL="660441" indent="-660441" defTabSz="406420">
              <a:lnSpc>
                <a:spcPct val="120000"/>
              </a:lnSpc>
              <a:buFont typeface="+mj-lt"/>
              <a:buAutoNum type="arabicPeriod"/>
            </a:pPr>
            <a:r>
              <a:rPr lang="en-US" sz="3200" dirty="0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Native redesign that mirrors website functionality closely [future]</a:t>
            </a:r>
          </a:p>
          <a:p>
            <a:pPr marL="660441" indent="-660441" defTabSz="406420">
              <a:lnSpc>
                <a:spcPct val="120000"/>
              </a:lnSpc>
              <a:buFont typeface="+mj-lt"/>
              <a:buAutoNum type="arabicPeriod"/>
            </a:pPr>
            <a:r>
              <a:rPr lang="en-US" sz="3200" dirty="0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Diverging design that focuses on things a mobile user would be interested in seeing [future]</a:t>
            </a:r>
          </a:p>
          <a:p>
            <a:pPr defTabSz="406420">
              <a:lnSpc>
                <a:spcPct val="120000"/>
              </a:lnSpc>
            </a:pPr>
            <a:endParaRPr lang="en-US" sz="3200" b="1" dirty="0">
              <a:solidFill>
                <a:prstClr val="black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  <a:p>
            <a:pPr defTabSz="406420">
              <a:lnSpc>
                <a:spcPct val="120000"/>
              </a:lnSpc>
            </a:pPr>
            <a:endParaRPr lang="en-US" sz="3200" b="1" dirty="0">
              <a:solidFill>
                <a:prstClr val="black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  <a:p>
            <a:pPr defTabSz="406420">
              <a:lnSpc>
                <a:spcPct val="120000"/>
              </a:lnSpc>
            </a:pPr>
            <a:r>
              <a:rPr lang="en-US" sz="3200" b="1" dirty="0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DETAILS/CODE SCREENSHOTS:</a:t>
            </a:r>
          </a:p>
          <a:p>
            <a:pPr marL="508032" indent="-508032" defTabSz="40642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Screenshot of the </a:t>
            </a:r>
            <a:r>
              <a:rPr lang="en-US" sz="3200" dirty="0" err="1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webview</a:t>
            </a:r>
            <a:r>
              <a:rPr lang="en-US" sz="3200" dirty="0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 component along with a description of how it works</a:t>
            </a:r>
          </a:p>
          <a:p>
            <a:pPr marL="508032" indent="-508032" defTabSz="40642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Screenshot of push notification related code and description</a:t>
            </a:r>
          </a:p>
          <a:p>
            <a:pPr marL="508032" indent="-508032" defTabSz="40642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prstClr val="black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  <a:p>
            <a:pPr marL="508032" indent="-508032" defTabSz="40642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prstClr val="black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  <a:p>
            <a:pPr defTabSz="406420">
              <a:lnSpc>
                <a:spcPct val="120000"/>
              </a:lnSpc>
            </a:pPr>
            <a:endParaRPr lang="en-US" sz="3200" dirty="0">
              <a:solidFill>
                <a:prstClr val="black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  <a:p>
            <a:pPr defTabSz="406420">
              <a:lnSpc>
                <a:spcPct val="120000"/>
              </a:lnSpc>
            </a:pPr>
            <a:endParaRPr lang="en-US" sz="3200" dirty="0">
              <a:solidFill>
                <a:prstClr val="black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  <a:p>
            <a:pPr defTabSz="406420">
              <a:lnSpc>
                <a:spcPct val="120000"/>
              </a:lnSpc>
            </a:pPr>
            <a:endParaRPr lang="en-US" sz="3200" dirty="0">
              <a:solidFill>
                <a:prstClr val="black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  <a:p>
            <a:pPr defTabSz="406420">
              <a:lnSpc>
                <a:spcPct val="120000"/>
              </a:lnSpc>
            </a:pPr>
            <a:endParaRPr lang="en-US" sz="3200" dirty="0">
              <a:solidFill>
                <a:prstClr val="black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  <a:p>
            <a:pPr defTabSz="406420">
              <a:lnSpc>
                <a:spcPct val="120000"/>
              </a:lnSpc>
            </a:pPr>
            <a:endParaRPr lang="en-US" sz="3200" dirty="0">
              <a:solidFill>
                <a:prstClr val="black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  <a:p>
            <a:pPr defTabSz="406420">
              <a:lnSpc>
                <a:spcPct val="120000"/>
              </a:lnSpc>
            </a:pPr>
            <a:endParaRPr lang="en-US" sz="3200" dirty="0">
              <a:solidFill>
                <a:prstClr val="black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  <a:p>
            <a:pPr defTabSz="406420">
              <a:lnSpc>
                <a:spcPct val="120000"/>
              </a:lnSpc>
            </a:pPr>
            <a:endParaRPr lang="en-US" sz="3200" dirty="0">
              <a:solidFill>
                <a:prstClr val="black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  <a:p>
            <a:pPr defTabSz="406420">
              <a:lnSpc>
                <a:spcPct val="120000"/>
              </a:lnSpc>
            </a:pPr>
            <a:endParaRPr lang="en-US" sz="3200" dirty="0">
              <a:solidFill>
                <a:prstClr val="black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AC4B58-8623-4DBE-951A-DDF821787031}"/>
              </a:ext>
            </a:extLst>
          </p:cNvPr>
          <p:cNvSpPr txBox="1"/>
          <p:nvPr/>
        </p:nvSpPr>
        <p:spPr>
          <a:xfrm>
            <a:off x="36121296" y="3456954"/>
            <a:ext cx="6810701" cy="16107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06420"/>
            <a:r>
              <a:rPr lang="en-US" sz="4800" b="1" dirty="0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AMMO BAR</a:t>
            </a:r>
          </a:p>
          <a:p>
            <a:pPr defTabSz="406420"/>
            <a:endParaRPr lang="en-US" sz="4800" b="1" dirty="0">
              <a:solidFill>
                <a:prstClr val="black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  <a:p>
            <a:pPr defTabSz="406420"/>
            <a:r>
              <a:rPr lang="en-US" sz="4268" b="1" dirty="0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Delete this and replace it with your…</a:t>
            </a:r>
          </a:p>
          <a:p>
            <a:pPr defTabSz="406420">
              <a:lnSpc>
                <a:spcPct val="120000"/>
              </a:lnSpc>
            </a:pPr>
            <a:r>
              <a:rPr lang="en-US" sz="4400" b="1" dirty="0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DETAILS/CODE SCREENSHOTS:</a:t>
            </a:r>
          </a:p>
          <a:p>
            <a:pPr marL="508032" indent="-508032" defTabSz="40642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Screenshot of the </a:t>
            </a:r>
            <a:r>
              <a:rPr lang="en-US" sz="4400" dirty="0" err="1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webview</a:t>
            </a:r>
            <a:r>
              <a:rPr lang="en-US" sz="4400" dirty="0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 component along with a description of how it works</a:t>
            </a:r>
          </a:p>
          <a:p>
            <a:pPr marL="508032" indent="-508032" defTabSz="40642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400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Screenshot of push notification related code and description</a:t>
            </a:r>
          </a:p>
          <a:p>
            <a:pPr marL="1016064" indent="-1016064" defTabSz="406420">
              <a:buFont typeface="Arial" panose="020B0604020202020204" pitchFamily="34" charset="0"/>
              <a:buChar char="•"/>
            </a:pPr>
            <a:r>
              <a:rPr lang="en-US" sz="4268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Extra </a:t>
            </a:r>
            <a:r>
              <a:rPr lang="en-US" sz="4268" dirty="0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Graphs</a:t>
            </a:r>
          </a:p>
          <a:p>
            <a:pPr marL="1016064" indent="-1016064" defTabSz="406420">
              <a:buFont typeface="Arial" panose="020B0604020202020204" pitchFamily="34" charset="0"/>
              <a:buChar char="•"/>
            </a:pPr>
            <a:r>
              <a:rPr lang="en-US" sz="4268" dirty="0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Extra Correlation tables</a:t>
            </a:r>
          </a:p>
          <a:p>
            <a:pPr marL="1016064" indent="-1016064" defTabSz="406420">
              <a:buFont typeface="Arial" panose="020B0604020202020204" pitchFamily="34" charset="0"/>
              <a:buChar char="•"/>
            </a:pPr>
            <a:r>
              <a:rPr lang="en-US" sz="4268" dirty="0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Extra Figures</a:t>
            </a:r>
          </a:p>
          <a:p>
            <a:pPr marL="1016064" indent="-1016064" defTabSz="406420">
              <a:buFont typeface="Arial" panose="020B0604020202020204" pitchFamily="34" charset="0"/>
              <a:buChar char="•"/>
            </a:pPr>
            <a:r>
              <a:rPr lang="en-US" sz="4268" dirty="0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Extra nuance that you’re worried about leaving out.</a:t>
            </a:r>
          </a:p>
          <a:p>
            <a:pPr marL="1016064" indent="-1016064" defTabSz="406420">
              <a:buFont typeface="Arial" panose="020B0604020202020204" pitchFamily="34" charset="0"/>
              <a:buChar char="•"/>
            </a:pPr>
            <a:r>
              <a:rPr lang="en-US" sz="4268" b="1" dirty="0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Keep it messy!</a:t>
            </a:r>
            <a:r>
              <a:rPr lang="en-US" sz="4268" dirty="0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 This section is just for you.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3A7B10-D6D9-4BF7-9A8B-B3113FDC3D80}"/>
              </a:ext>
            </a:extLst>
          </p:cNvPr>
          <p:cNvSpPr/>
          <p:nvPr/>
        </p:nvSpPr>
        <p:spPr>
          <a:xfrm>
            <a:off x="1039590" y="4684492"/>
            <a:ext cx="1485223" cy="1414045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06420"/>
            <a:endParaRPr lang="en-US" sz="16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Graphic 18">
            <a:extLst>
              <a:ext uri="{FF2B5EF4-FFF2-40B4-BE49-F238E27FC236}">
                <a16:creationId xmlns:a16="http://schemas.microsoft.com/office/drawing/2014/main" id="{C1210836-80D5-470E-883D-041B85957069}"/>
              </a:ext>
            </a:extLst>
          </p:cNvPr>
          <p:cNvSpPr/>
          <p:nvPr/>
        </p:nvSpPr>
        <p:spPr>
          <a:xfrm>
            <a:off x="1394182" y="5075802"/>
            <a:ext cx="705870" cy="656453"/>
          </a:xfrm>
          <a:custGeom>
            <a:avLst/>
            <a:gdLst>
              <a:gd name="connsiteX0" fmla="*/ 310594 w 327663"/>
              <a:gd name="connsiteY0" fmla="*/ 219906 h 335196"/>
              <a:gd name="connsiteX1" fmla="*/ 246568 w 327663"/>
              <a:gd name="connsiteY1" fmla="*/ 176217 h 335196"/>
              <a:gd name="connsiteX2" fmla="*/ 212295 w 327663"/>
              <a:gd name="connsiteY2" fmla="*/ 176217 h 335196"/>
              <a:gd name="connsiteX3" fmla="*/ 165217 w 327663"/>
              <a:gd name="connsiteY3" fmla="*/ 189022 h 335196"/>
              <a:gd name="connsiteX4" fmla="*/ 118138 w 327663"/>
              <a:gd name="connsiteY4" fmla="*/ 176217 h 335196"/>
              <a:gd name="connsiteX5" fmla="*/ 83866 w 327663"/>
              <a:gd name="connsiteY5" fmla="*/ 176217 h 335196"/>
              <a:gd name="connsiteX6" fmla="*/ 19839 w 327663"/>
              <a:gd name="connsiteY6" fmla="*/ 219906 h 335196"/>
              <a:gd name="connsiteX7" fmla="*/ 1385 w 327663"/>
              <a:gd name="connsiteY7" fmla="*/ 299750 h 335196"/>
              <a:gd name="connsiteX8" fmla="*/ 165970 w 327663"/>
              <a:gd name="connsiteY8" fmla="*/ 335529 h 335196"/>
              <a:gd name="connsiteX9" fmla="*/ 329802 w 327663"/>
              <a:gd name="connsiteY9" fmla="*/ 299750 h 335196"/>
              <a:gd name="connsiteX10" fmla="*/ 310594 w 327663"/>
              <a:gd name="connsiteY10" fmla="*/ 219906 h 335196"/>
              <a:gd name="connsiteX11" fmla="*/ 165593 w 327663"/>
              <a:gd name="connsiteY11" fmla="*/ 154749 h 335196"/>
              <a:gd name="connsiteX12" fmla="*/ 242425 w 327663"/>
              <a:gd name="connsiteY12" fmla="*/ 77918 h 335196"/>
              <a:gd name="connsiteX13" fmla="*/ 165593 w 327663"/>
              <a:gd name="connsiteY13" fmla="*/ 1086 h 335196"/>
              <a:gd name="connsiteX14" fmla="*/ 88762 w 327663"/>
              <a:gd name="connsiteY14" fmla="*/ 77918 h 335196"/>
              <a:gd name="connsiteX15" fmla="*/ 165593 w 327663"/>
              <a:gd name="connsiteY15" fmla="*/ 154749 h 335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27663" h="335196">
                <a:moveTo>
                  <a:pt x="310594" y="219906"/>
                </a:moveTo>
                <a:cubicBezTo>
                  <a:pt x="287243" y="179983"/>
                  <a:pt x="246568" y="176217"/>
                  <a:pt x="246568" y="176217"/>
                </a:cubicBezTo>
                <a:lnTo>
                  <a:pt x="212295" y="176217"/>
                </a:lnTo>
                <a:cubicBezTo>
                  <a:pt x="198360" y="184126"/>
                  <a:pt x="182541" y="189022"/>
                  <a:pt x="165217" y="189022"/>
                </a:cubicBezTo>
                <a:cubicBezTo>
                  <a:pt x="147892" y="189022"/>
                  <a:pt x="132074" y="184503"/>
                  <a:pt x="118138" y="176217"/>
                </a:cubicBezTo>
                <a:lnTo>
                  <a:pt x="83866" y="176217"/>
                </a:lnTo>
                <a:cubicBezTo>
                  <a:pt x="83866" y="176217"/>
                  <a:pt x="43190" y="179983"/>
                  <a:pt x="19839" y="219906"/>
                </a:cubicBezTo>
                <a:cubicBezTo>
                  <a:pt x="-2758" y="259828"/>
                  <a:pt x="1385" y="299750"/>
                  <a:pt x="1385" y="299750"/>
                </a:cubicBezTo>
                <a:cubicBezTo>
                  <a:pt x="1385" y="299750"/>
                  <a:pt x="37164" y="335529"/>
                  <a:pt x="165970" y="335529"/>
                </a:cubicBezTo>
                <a:cubicBezTo>
                  <a:pt x="294776" y="335529"/>
                  <a:pt x="329802" y="299750"/>
                  <a:pt x="329802" y="299750"/>
                </a:cubicBezTo>
                <a:cubicBezTo>
                  <a:pt x="329802" y="299750"/>
                  <a:pt x="333945" y="259828"/>
                  <a:pt x="310594" y="219906"/>
                </a:cubicBezTo>
                <a:close/>
                <a:moveTo>
                  <a:pt x="165593" y="154749"/>
                </a:moveTo>
                <a:cubicBezTo>
                  <a:pt x="208152" y="154749"/>
                  <a:pt x="242425" y="120477"/>
                  <a:pt x="242425" y="77918"/>
                </a:cubicBezTo>
                <a:cubicBezTo>
                  <a:pt x="242425" y="35359"/>
                  <a:pt x="208152" y="1086"/>
                  <a:pt x="165593" y="1086"/>
                </a:cubicBezTo>
                <a:cubicBezTo>
                  <a:pt x="123035" y="1086"/>
                  <a:pt x="88762" y="35736"/>
                  <a:pt x="88762" y="77918"/>
                </a:cubicBezTo>
                <a:cubicBezTo>
                  <a:pt x="88762" y="120477"/>
                  <a:pt x="123035" y="154749"/>
                  <a:pt x="165593" y="154749"/>
                </a:cubicBezTo>
                <a:close/>
              </a:path>
            </a:pathLst>
          </a:custGeom>
          <a:solidFill>
            <a:schemeClr val="bg1"/>
          </a:solidFill>
          <a:ln w="3663" cap="flat">
            <a:noFill/>
            <a:prstDash val="solid"/>
            <a:miter/>
          </a:ln>
        </p:spPr>
        <p:txBody>
          <a:bodyPr rtlCol="0" anchor="ctr"/>
          <a:lstStyle/>
          <a:p>
            <a:pPr defTabSz="406420"/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A4CF46-E210-4322-91D1-2A41779F64E4}"/>
              </a:ext>
            </a:extLst>
          </p:cNvPr>
          <p:cNvSpPr/>
          <p:nvPr/>
        </p:nvSpPr>
        <p:spPr>
          <a:xfrm>
            <a:off x="2655504" y="4614638"/>
            <a:ext cx="2997937" cy="1331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06420">
              <a:lnSpc>
                <a:spcPct val="120000"/>
              </a:lnSpc>
            </a:pPr>
            <a:r>
              <a:rPr lang="en-US" sz="3200" dirty="0">
                <a:solidFill>
                  <a:prstClr val="white">
                    <a:lumMod val="50000"/>
                  </a:prstClr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PRESENTER:</a:t>
            </a:r>
            <a:r>
              <a:rPr lang="en-US" sz="3200" b="1" dirty="0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 </a:t>
            </a:r>
          </a:p>
          <a:p>
            <a:pPr defTabSz="406420">
              <a:lnSpc>
                <a:spcPct val="120000"/>
              </a:lnSpc>
            </a:pPr>
            <a:r>
              <a:rPr lang="en-US" sz="3911" b="1" dirty="0">
                <a:solidFill>
                  <a:prstClr val="black"/>
                </a:solidFill>
                <a:highlight>
                  <a:srgbClr val="FFC107"/>
                </a:highlight>
                <a:latin typeface="Lato" panose="020F0502020204030203" pitchFamily="34" charset="0"/>
                <a:cs typeface="Segoe UI" panose="020B0502040204020203" pitchFamily="34" charset="0"/>
              </a:rPr>
              <a:t>Sellers Crum</a:t>
            </a:r>
            <a:endParaRPr lang="en-US" sz="3911" b="1" dirty="0">
              <a:solidFill>
                <a:prstClr val="black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C155C6-7E35-4156-B9B3-271571AF60CC}"/>
              </a:ext>
            </a:extLst>
          </p:cNvPr>
          <p:cNvSpPr txBox="1"/>
          <p:nvPr/>
        </p:nvSpPr>
        <p:spPr>
          <a:xfrm>
            <a:off x="908901" y="2793946"/>
            <a:ext cx="83443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06420"/>
            <a:r>
              <a:rPr lang="en-US" sz="4800" b="1" i="1" dirty="0" err="1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MyBikeTraffic</a:t>
            </a:r>
            <a:endParaRPr lang="en-US" sz="4800" b="1" i="1" dirty="0">
              <a:solidFill>
                <a:prstClr val="black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  <a:p>
            <a:pPr defTabSz="406420"/>
            <a:r>
              <a:rPr lang="en-US" sz="4800" i="1" dirty="0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Cross-platform mobile app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F61B32-8F5A-4CA2-B549-F3CD26098007}"/>
              </a:ext>
            </a:extLst>
          </p:cNvPr>
          <p:cNvSpPr txBox="1"/>
          <p:nvPr/>
        </p:nvSpPr>
        <p:spPr>
          <a:xfrm>
            <a:off x="36558391" y="24391326"/>
            <a:ext cx="6682064" cy="694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06420"/>
            <a:r>
              <a:rPr lang="en-US" sz="3911" dirty="0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REFERENCES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26467A-A2D3-38BF-4704-12F9CBD050C1}"/>
              </a:ext>
            </a:extLst>
          </p:cNvPr>
          <p:cNvSpPr/>
          <p:nvPr/>
        </p:nvSpPr>
        <p:spPr>
          <a:xfrm>
            <a:off x="5847765" y="4614638"/>
            <a:ext cx="2916183" cy="1331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06420">
              <a:lnSpc>
                <a:spcPct val="120000"/>
              </a:lnSpc>
            </a:pPr>
            <a:r>
              <a:rPr lang="en-US" sz="3200" dirty="0">
                <a:solidFill>
                  <a:prstClr val="white">
                    <a:lumMod val="50000"/>
                  </a:prstClr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Mentor:</a:t>
            </a:r>
            <a:r>
              <a:rPr lang="en-US" sz="3200" b="1" dirty="0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 </a:t>
            </a:r>
          </a:p>
          <a:p>
            <a:pPr defTabSz="406420">
              <a:lnSpc>
                <a:spcPct val="120000"/>
              </a:lnSpc>
            </a:pPr>
            <a:r>
              <a:rPr lang="en-US" sz="3911" b="1" dirty="0">
                <a:solidFill>
                  <a:prstClr val="black"/>
                </a:solidFill>
                <a:highlight>
                  <a:srgbClr val="FFC107"/>
                </a:highlight>
                <a:latin typeface="Lato" panose="020F0502020204030203" pitchFamily="34" charset="0"/>
                <a:cs typeface="Segoe UI" panose="020B0502040204020203" pitchFamily="34" charset="0"/>
              </a:rPr>
              <a:t>Brian Toone</a:t>
            </a:r>
            <a:endParaRPr lang="en-US" sz="3911" b="1" dirty="0">
              <a:solidFill>
                <a:prstClr val="black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4565BF-20FE-4BAA-6027-C8EFADB53612}"/>
              </a:ext>
            </a:extLst>
          </p:cNvPr>
          <p:cNvSpPr txBox="1"/>
          <p:nvPr/>
        </p:nvSpPr>
        <p:spPr>
          <a:xfrm>
            <a:off x="36558391" y="25481333"/>
            <a:ext cx="6682064" cy="1897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 defTabSz="406420">
              <a:buFont typeface="+mj-lt"/>
              <a:buAutoNum type="arabicPeriod"/>
            </a:pPr>
            <a:r>
              <a:rPr lang="en-US" sz="3911" dirty="0" err="1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mybiketraffic.com</a:t>
            </a:r>
            <a:endParaRPr lang="en-US" sz="3911" dirty="0">
              <a:solidFill>
                <a:prstClr val="black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  <a:p>
            <a:pPr marL="742950" indent="-742950" defTabSz="406420">
              <a:buFont typeface="+mj-lt"/>
              <a:buAutoNum type="arabicPeriod"/>
            </a:pPr>
            <a:r>
              <a:rPr lang="en-US" sz="3911" dirty="0" err="1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react.dev</a:t>
            </a:r>
            <a:endParaRPr lang="en-US" sz="3911" dirty="0">
              <a:solidFill>
                <a:prstClr val="black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  <a:p>
            <a:pPr marL="742950" indent="-742950" defTabSz="406420">
              <a:buFont typeface="+mj-lt"/>
              <a:buAutoNum type="arabicPeriod"/>
            </a:pPr>
            <a:r>
              <a:rPr lang="en-US" sz="3911" dirty="0" err="1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Etc</a:t>
            </a:r>
            <a:r>
              <a:rPr lang="en-US" sz="3911" dirty="0">
                <a:solidFill>
                  <a:prstClr val="black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…….</a:t>
            </a:r>
          </a:p>
        </p:txBody>
      </p:sp>
      <p:pic>
        <p:nvPicPr>
          <p:cNvPr id="11" name="Picture 10" descr="A screen shot of a phone&#10;&#10;AI-generated content may be incorrect.">
            <a:extLst>
              <a:ext uri="{FF2B5EF4-FFF2-40B4-BE49-F238E27FC236}">
                <a16:creationId xmlns:a16="http://schemas.microsoft.com/office/drawing/2014/main" id="{A5619CBC-1F5A-C3D7-771B-376C109426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0544" y="-560752"/>
            <a:ext cx="10285789" cy="19373918"/>
          </a:xfrm>
          <a:prstGeom prst="rect">
            <a:avLst/>
          </a:prstGeom>
        </p:spPr>
      </p:pic>
      <p:sp>
        <p:nvSpPr>
          <p:cNvPr id="13" name="AutoShape 2" descr="Image">
            <a:extLst>
              <a:ext uri="{FF2B5EF4-FFF2-40B4-BE49-F238E27FC236}">
                <a16:creationId xmlns:a16="http://schemas.microsoft.com/office/drawing/2014/main" id="{8857F119-F395-A695-D31C-944C8E24FD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793200" y="16306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D7D6A3D6-8D4B-E5FC-4AFF-7005157C9A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483263" y="13568363"/>
            <a:ext cx="6924675" cy="578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3" name="Picture 2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8D57E66-D43C-FCEE-CFD0-A66775EC40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9992" y="18619618"/>
            <a:ext cx="14662711" cy="1223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58759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664</TotalTime>
  <Words>394</Words>
  <Application>Microsoft Office PowerPoint</Application>
  <PresentationFormat>Custom</PresentationFormat>
  <Paragraphs>55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Lato</vt:lpstr>
      <vt:lpstr>1_Office Theme</vt:lpstr>
      <vt:lpstr>Creation of the app and some of the default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finding goes here, translated into plain English. Emphasize the important words.</dc:title>
  <dc:creator>Cooper, Sarah</dc:creator>
  <cp:lastModifiedBy>Crum, Sellers</cp:lastModifiedBy>
  <cp:revision>3</cp:revision>
  <dcterms:created xsi:type="dcterms:W3CDTF">2023-02-10T15:43:57Z</dcterms:created>
  <dcterms:modified xsi:type="dcterms:W3CDTF">2025-05-01T05:13:58Z</dcterms:modified>
</cp:coreProperties>
</file>